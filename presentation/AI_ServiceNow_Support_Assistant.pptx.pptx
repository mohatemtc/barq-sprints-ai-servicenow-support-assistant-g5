
<file path=[Content_Types].xml><?xml version="1.0" encoding="utf-8"?>
<Types xmlns="http://schemas.openxmlformats.org/package/2006/content-types"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54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numbers will be added after verifying the actual test reports and distinguishing mocked tests from live integration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8.jpeg"/><Relationship Id="rId10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685800" cy="685800"/>
          </a:xfrm>
          <a:prstGeom prst="rect">
            <a:avLst/>
          </a:prstGeom>
        </p:spPr>
      </p:pic>
      <p:pic>
        <p:nvPicPr>
          <p:cNvPr id="3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57200"/>
            <a:ext cx="685800" cy="685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5880" y="4572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pic>
        <p:nvPicPr>
          <p:cNvPr id="5" name="Image 2" descr="Incident to AI suggestion to human approv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777240"/>
            <a:ext cx="3749040" cy="502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1"/>
          <p:cNvSpPr txBox="1"/>
          <p:nvPr/>
        </p:nvSpPr>
        <p:spPr>
          <a:xfrm>
            <a:off x="64008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 ·  AI TRACK — GROUP 5  ·  2026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18288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ServiceNow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Assistant</a:t>
            </a:r>
            <a:endParaRPr lang="en-US" sz="5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3794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AI. Automated Workflows. Human Control.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4343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assistant for incident analysis and knowledge-grounded resolution suggestions.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828800"/>
            <a:ext cx="35204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22960" y="2057400"/>
            <a:ext cx="777240" cy="73152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1" name="Text 7"/>
          <p:cNvSpPr txBox="1"/>
          <p:nvPr/>
        </p:nvSpPr>
        <p:spPr>
          <a:xfrm>
            <a:off x="17373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Abdelmottleb Abdellah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73736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it-IT" sz="1400" dirty="0"/>
              <a:t>ServiceNow Platform &amp; AI Retrieval Developer &amp; RAG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43400" y="1828800"/>
            <a:ext cx="35204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47713" y="2057400"/>
            <a:ext cx="810087" cy="73152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6" name="Text 12"/>
          <p:cNvSpPr txBox="1"/>
          <p:nvPr/>
        </p:nvSpPr>
        <p:spPr>
          <a:xfrm>
            <a:off x="544068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Sheref Ayman Serag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AI Backend, RAG &amp; ServiceNow Integration Developer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46720" y="1828800"/>
            <a:ext cx="35204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2057400"/>
            <a:ext cx="731520" cy="73152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1" name="Text 17"/>
          <p:cNvSpPr txBox="1"/>
          <p:nvPr/>
        </p:nvSpPr>
        <p:spPr>
          <a:xfrm>
            <a:off x="91440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Basyouni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1211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ServiceNow Integration &amp; Backend Infrastructure Developer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0080" y="3200400"/>
            <a:ext cx="35204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2960" y="3429000"/>
            <a:ext cx="731520" cy="731520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6" name="Text 22"/>
          <p:cNvSpPr txBox="1"/>
          <p:nvPr/>
        </p:nvSpPr>
        <p:spPr>
          <a:xfrm>
            <a:off x="1737360" y="34838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Mohaned Magdy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691640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Backend Security &amp; Core Engine Developer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343400" y="3200400"/>
            <a:ext cx="35204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26280" y="3444536"/>
            <a:ext cx="731520" cy="715984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31" name="Text 27"/>
          <p:cNvSpPr txBox="1"/>
          <p:nvPr/>
        </p:nvSpPr>
        <p:spPr>
          <a:xfrm>
            <a:off x="544068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Ashraf Hassan Elkayyal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54406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AI Agent, Security &amp; Evaluation Engineer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046720" y="3200400"/>
            <a:ext cx="35204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29600" y="3429000"/>
            <a:ext cx="731520" cy="731520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36" name="Text 32"/>
          <p:cNvSpPr txBox="1"/>
          <p:nvPr/>
        </p:nvSpPr>
        <p:spPr>
          <a:xfrm>
            <a:off x="91440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Abdulfattah Ahmed</a:t>
            </a:r>
          </a:p>
        </p:txBody>
      </p:sp>
      <p:sp>
        <p:nvSpPr>
          <p:cNvPr id="37" name="Text 33"/>
          <p:cNvSpPr txBox="1"/>
          <p:nvPr/>
        </p:nvSpPr>
        <p:spPr>
          <a:xfrm>
            <a:off x="91440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AI Agent, Knowledge Base, Prompt Engineering &amp; Evaluation Developer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40080" y="4709160"/>
            <a:ext cx="10927080" cy="118872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39" name="Shape 35"/>
          <p:cNvSpPr/>
          <p:nvPr/>
        </p:nvSpPr>
        <p:spPr>
          <a:xfrm>
            <a:off x="868680" y="4937760"/>
            <a:ext cx="731520" cy="731520"/>
          </a:xfrm>
          <a:prstGeom prst="ellipse">
            <a:avLst/>
          </a:prstGeom>
          <a:solidFill>
            <a:srgbClr val="2B3677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86868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182880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1828800" y="5285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Mohamed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IT Support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53492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17830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knowledge-base searching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17920" y="1783080"/>
            <a:ext cx="53492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46520" y="2103120"/>
            <a:ext cx="548640" cy="548640"/>
          </a:xfrm>
          <a:prstGeom prst="ellipse">
            <a:avLst/>
          </a:prstGeom>
          <a:solidFill>
            <a:srgbClr val="2ECFC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46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17830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incident investigation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40080" y="3154680"/>
            <a:ext cx="53492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34747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686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1645920" y="3154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without sufficient supporting evidence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217920" y="3154680"/>
            <a:ext cx="53492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46520" y="34747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46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7223760" y="3154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incorrect or uncontrolled record updates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40080" y="4663440"/>
            <a:ext cx="10927080" cy="118872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14400" y="4663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2E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2800" b="1" dirty="0"/>
          </a:p>
        </p:txBody>
      </p:sp>
      <p:sp>
        <p:nvSpPr>
          <p:cNvPr id="26" name="Text 22"/>
          <p:cNvSpPr txBox="1"/>
          <p:nvPr/>
        </p:nvSpPr>
        <p:spPr>
          <a:xfrm>
            <a:off x="3108960" y="4663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work while keeping resolution decisions under human control.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Incident to Human-Reviewed Suggestion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incident from ServiceNow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343400" y="178308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2ECFC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720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incoming event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75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knowledge-base articles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40080" y="347472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68680" y="4297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evidence-grounded suggestion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343400" y="347472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72000" y="3703320"/>
            <a:ext cx="502920" cy="502920"/>
          </a:xfrm>
          <a:prstGeom prst="ellipse">
            <a:avLst/>
          </a:prstGeom>
          <a:solidFill>
            <a:srgbClr val="2ECFC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5720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0" y="4297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response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8046720" y="347472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75320" y="3703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82753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8275320" y="4297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suggestion back for human review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640080" y="5257800"/>
            <a:ext cx="10927080" cy="868680"/>
          </a:xfrm>
          <a:prstGeom prst="roundRect">
            <a:avLst>
              <a:gd name="adj" fmla="val 14737"/>
            </a:avLst>
          </a:prstGeom>
          <a:solidFill>
            <a:srgbClr val="E8EEFC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914400" y="5257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800" dirty="0"/>
          </a:p>
        </p:txBody>
      </p:sp>
      <p:sp>
        <p:nvSpPr>
          <p:cNvPr id="34" name="Text 30"/>
          <p:cNvSpPr txBox="1"/>
          <p:nvPr/>
        </p:nvSpPr>
        <p:spPr>
          <a:xfrm>
            <a:off x="3108960" y="5257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assistance with a controlled review workflow.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Ingestion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023360" y="1783080"/>
            <a:ext cx="7543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251960" y="1783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Business Rule  →  Signed Webhook  →  FastAPI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2679192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26791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Processing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023360" y="2679192"/>
            <a:ext cx="7543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51960" y="2679192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→  Redis  →  Celery Worker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0080" y="3575304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0080" y="35753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023360" y="3575304"/>
            <a:ext cx="7543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251960" y="357530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Context  →  ReAct Agent  →  Qdrant Knowledge Retrieval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40080" y="4471416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0080" y="44714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Integration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023360" y="4471416"/>
            <a:ext cx="7543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51960" y="447141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Checks  →  ServiceNow Write-Back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40080" y="5367528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0050F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0080" y="53675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4023360" y="5367528"/>
            <a:ext cx="7543800" cy="731520"/>
          </a:xfrm>
          <a:prstGeom prst="roundRect">
            <a:avLst>
              <a:gd name="adj" fmla="val 17500"/>
            </a:avLst>
          </a:prstGeom>
          <a:solidFill>
            <a:srgbClr val="E8EE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251960" y="536752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Resolution  →  Approve / Edit / Reject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 &amp; AI Agent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1965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5146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extract knowledge-base content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 manageable chunks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vector embeddings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content from Qdrant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retrieved evidence to support the AI response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17920" y="178308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46520" y="1965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5146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reasoning cycle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tools for knowledge search and workflow actions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 before suggesting a resolution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when available evidence is insufficient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SECURITY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Validation &amp; Security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Protection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5146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signature validation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validation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checks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343400" y="17830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Validation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and evidence checks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detection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insufficient evidence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Write-Back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25146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ServiceNow fields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confidence validation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before final resolution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2057400"/>
            <a:ext cx="182880" cy="18288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88720" y="19842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PROCESSING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Celery · Redis · PostgreSQL · asyncpg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343400" y="178308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0" y="2057400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892040" y="19842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ORCHESTRATION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ReAct Agent · LiteLLM · Gemini 2.5 Flash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2057400"/>
            <a:ext cx="182880" cy="182880"/>
          </a:xfrm>
          <a:prstGeom prst="ellipse">
            <a:avLst/>
          </a:prstGeom>
          <a:solidFill>
            <a:srgbClr val="2ECFC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595360" y="19842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· BGE Embeddings · Docling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40080" y="388620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4160520"/>
            <a:ext cx="182880" cy="18288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188720" y="40873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68680" y="4617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· Table API · REST Integration · UI Actions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217920" y="388620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46520" y="4160520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766560" y="40873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4617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Node Tests · Docker Compose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2B367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Knowledge-Supported Incident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 incident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knowledge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suggested response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2B367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Evidence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supporting evidence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case for further human attention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2B367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AI suggestion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or reject it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Evidence: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Screenshots]</a:t>
            </a:r>
            <a:endParaRPr lang="en-US" sz="1600" dirty="0"/>
          </a:p>
        </p:txBody>
      </p:sp>
      <p:pic>
        <p:nvPicPr>
          <p:cNvPr id="17" name="Image 0" descr="/mnt/user-data/uploads/sprintsai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172200"/>
            <a:ext cx="365760" cy="365760"/>
          </a:xfrm>
          <a:prstGeom prst="rect">
            <a:avLst/>
          </a:prstGeom>
        </p:spPr>
      </p:pic>
      <p:pic>
        <p:nvPicPr>
          <p:cNvPr id="18" name="Image 1" descr="/mnt/user-data/uploads/barqsystems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61722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Passed / 208 Total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Tests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5029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Tests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43400" y="17830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 Rate @3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 seconds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Scenarios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0" y="5029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Scenarios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046720" y="17830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753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7532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eval/reports/agent_report.md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827532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Screenshots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275320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UI &amp; Action Screenshots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827532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Evidence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275320" y="5029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ReAct Traces (.md)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27080" cy="41605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SOLVED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Events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 and duplicate-processing protection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Unreliable AI Responses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checks and evidence validation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API Failures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 and retry mechanisms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Record Updates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allow-lists and payload validation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 Lifecycle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status management and review actions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 · S3.6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Write-Back Client &amp; Human Review Surface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3520440" cy="27432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ServiceNowWritebackClient (src/writeback/ servicenow_writeback.py)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Atomic operations: add_work_note(), suggest(), escalate()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Sync / Async adapter bridge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43400" y="1783080"/>
            <a:ext cx="3520440" cy="27432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Safety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Strict 6-field allow-list (customer comments blocked)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Confidence clamped to [0.0, 1.0] with strict type validation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Exponential retry backoff on transient 503 errors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20440" cy="27432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Approve / Edit / Reject UI Actions on the Incident form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Business Rules: AI_Confidence_Validation, AI_Lifecycle_Guard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UI Policy: AI fields read-only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080" y="4709160"/>
            <a:ext cx="5349240" cy="1234440"/>
          </a:xfrm>
          <a:prstGeom prst="roundRect">
            <a:avLst>
              <a:gd name="adj" fmla="val 17500"/>
            </a:avLst>
          </a:prstGeom>
          <a:solidFill>
            <a:srgbClr val="E8EE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1440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108 Passed in 0.81s</a:t>
            </a:r>
            <a:endParaRPr lang="en-US" sz="1800" dirty="0"/>
          </a:p>
          <a:p>
            <a:pPr marL="0" indent="0">
              <a:buNone/>
            </a:pPr>
            <a:r>
              <a:rPr lang="en-US" sz="110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98 tests: test_writeback.py</a:t>
            </a:r>
            <a:endParaRPr lang="en-US" sz="1800" dirty="0"/>
          </a:p>
          <a:p>
            <a:pPr marL="0" indent="0">
              <a:buNone/>
            </a:pPr>
            <a:r>
              <a:rPr lang="en-US" sz="110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tests: test_agent_adapter.py</a:t>
            </a:r>
            <a:endParaRPr lang="en-US" sz="1800" dirty="0"/>
          </a:p>
          <a:p>
            <a:pPr marL="0" indent="0">
              <a:buNone/>
            </a:pPr>
            <a:r>
              <a:rPr lang="en-US" sz="110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pass rate (0 failures)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217920" y="4709160"/>
            <a:ext cx="5349240" cy="1234440"/>
          </a:xfrm>
          <a:prstGeom prst="roundRect">
            <a:avLst>
              <a:gd name="adj" fmla="val 17500"/>
            </a:avLst>
          </a:prstGeom>
          <a:solidFill>
            <a:srgbClr val="E8EEF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9224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Verified Screenshots</a:t>
            </a:r>
            <a:endParaRPr lang="en-US" sz="1800" dirty="0"/>
          </a:p>
          <a:p>
            <a:pPr marL="0" indent="0">
              <a:buNone/>
            </a:pPr>
            <a:r>
              <a:rPr lang="en-US" sz="110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13_live_suggest_servicenow.png (populated form)</a:t>
            </a:r>
            <a:endParaRPr lang="en-US" sz="1800" dirty="0"/>
          </a:p>
          <a:p>
            <a:pPr marL="0" indent="0">
              <a:buNone/>
            </a:pPr>
            <a:r>
              <a:rPr lang="en-US" sz="110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04_review_actions_visible.png (UI buttons)</a:t>
            </a:r>
            <a:endParaRPr lang="en-US" sz="1800" dirty="0"/>
          </a:p>
          <a:p>
            <a:pPr marL="0" indent="0">
              <a:buNone/>
            </a:pPr>
            <a:r>
              <a:rPr lang="en-US" sz="110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06_approve / 07_edit / 08_reject_result.png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Next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100" dirty="0"/>
          </a:p>
        </p:txBody>
      </p:sp>
      <p:pic>
        <p:nvPicPr>
          <p:cNvPr id="5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6263640"/>
            <a:ext cx="347472" cy="347472"/>
          </a:xfrm>
          <a:prstGeom prst="rect">
            <a:avLst/>
          </a:prstGeom>
        </p:spPr>
      </p:pic>
      <p:pic>
        <p:nvPicPr>
          <p:cNvPr id="6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62636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24160" y="6355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2029968"/>
            <a:ext cx="182880" cy="18288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887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DELIVERY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3774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&amp; Continuous Testing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builds, deployments, and tests.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17920" y="178308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2029968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7665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AVAILABILITY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3774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Elastic Scaling &amp; High Availability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demand and minimize downtime.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080" y="379476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8680" y="4041648"/>
            <a:ext cx="182880" cy="182880"/>
          </a:xfrm>
          <a:prstGeom prst="ellipse">
            <a:avLst/>
          </a:prstGeom>
          <a:solidFill>
            <a:srgbClr val="2ECFC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18872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OPTIMIZATION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68680" y="43891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 &amp; Infrastructure Optimization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5074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resource usage and improve efficiency.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217920" y="379476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46520" y="4041648"/>
            <a:ext cx="182880" cy="18288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7665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 SECURITY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4434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prompt-injection defenses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confidence calibration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grounding and abstention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463040" cy="1463040"/>
          </a:xfrm>
          <a:prstGeom prst="ellipse">
            <a:avLst/>
          </a:prstGeom>
          <a:solidFill>
            <a:srgbClr val="C7D6F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0050FF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1828800"/>
            <a:ext cx="320040" cy="320040"/>
          </a:xfrm>
          <a:prstGeom prst="ellipse">
            <a:avLst/>
          </a:prstGeom>
          <a:solidFill>
            <a:srgbClr val="2ECF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 ·  AI TRACK — GROUP 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Grounds. Humans Decide.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pic>
        <p:nvPicPr>
          <p:cNvPr id="8" name="Image 0" descr="Sprin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37760"/>
            <a:ext cx="731520" cy="731520"/>
          </a:xfrm>
          <a:prstGeom prst="rect">
            <a:avLst/>
          </a:prstGeom>
        </p:spPr>
      </p:pic>
      <p:pic>
        <p:nvPicPr>
          <p:cNvPr id="9" name="Image 1" descr="BARQ System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9377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4937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4937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x BARQ | AI Track — Group 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941</Words>
  <Application>Microsoft Office PowerPoint</Application>
  <PresentationFormat>شاشة عريضة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Eng. Sherif</cp:lastModifiedBy>
  <cp:revision>4</cp:revision>
  <dcterms:created xsi:type="dcterms:W3CDTF">2026-10-03T11:23:46Z</dcterms:created>
  <dcterms:modified xsi:type="dcterms:W3CDTF">2026-10-03T16:50:47Z</dcterms:modified>
</cp:coreProperties>
</file>